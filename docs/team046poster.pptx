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432000" cy="365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0" cy="31089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27432000" cy="182880"/>
          </a:xfrm>
          <a:prstGeom prst="rect">
            <a:avLst/>
          </a:prstGeom>
          <a:solidFill>
            <a:srgbClr val="8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2560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Ignition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560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FFDDDD"/>
                </a:solidFill>
                <a:latin typeface="Calibri"/>
              </a:defRPr>
            </a:pPr>
            <a:r>
              <a:t>Explaining and Forecasting Urban Fire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560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Calibri"/>
              </a:defRPr>
            </a:pPr>
            <a:r>
              <a:t>Vishruth Anand   ·   Vineeth Nareddy   ·   Rian Rahman   ·   James Reilly   ·   Jayanth Vennamreddy</a:t>
            </a:r>
          </a:p>
          <a:p>
            <a:pPr algn="ctr">
              <a:defRPr sz="2000">
                <a:solidFill>
                  <a:srgbClr val="FFBBBB"/>
                </a:solidFill>
                <a:latin typeface="Calibri"/>
              </a:defRPr>
            </a:pPr>
            <a:r>
              <a:t>Georgia Institute of Technology  |  CSE 6242 Data and Visual Analytics  |  Team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13075920" cy="530352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794759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794759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2435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Problem: Fire departments make staffing and inspection</a:t>
            </a:r>
            <a:br/>
            <a:r>
              <a:t>decisions under uncertainty, yet fire incidents cluster</a:t>
            </a:r>
            <a:br/>
            <a:r>
              <a:t>unevenly across neighborhoods and time periods.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Current tools show what happened, but not where risk is</a:t>
            </a:r>
            <a:br/>
            <a:r>
              <a:t>concentrated, how it shifts over time, or why a model</a:t>
            </a:r>
            <a:br/>
            <a:r>
              <a:t>flags a particular area.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Why it matters: Better risk awareness helps departments</a:t>
            </a:r>
            <a:br/>
            <a:r>
              <a:t>pre-position resources, prioritize inspections, and</a:t>
            </a:r>
            <a:br/>
            <a:r>
              <a:t>potentially reduce response times.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Our system forecasts next-day fire risk on a 1 km</a:t>
            </a:r>
            <a:br/>
            <a:r>
              <a:t>Atlanta grid and explains each prediction through</a:t>
            </a:r>
            <a:br/>
            <a:r>
              <a:t>an interactive Leaflet/D3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9098280"/>
            <a:ext cx="13075920" cy="38404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9418319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9418319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0012680"/>
            <a:ext cx="12435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1,473 geocoded fire incidents from 2024 NFIRS PDR Light</a:t>
            </a:r>
            <a:br/>
            <a:r>
              <a:t>(Atlanta, fire codes 100-199, deduplicated).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Daily weather from Open-Meteo: temperature, humidity,</a:t>
            </a:r>
            <a:br/>
            <a:r>
              <a:t>precipitation, wind speed (citywide, one row per day).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1,176 grid cells at 1 km resolution; 132,860 cell-day rows</a:t>
            </a:r>
            <a:br/>
            <a:r>
              <a:t>with 18 features (weather, calendar, lags, rolling sums).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3258799"/>
            <a:ext cx="13075920" cy="7498079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3578839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13578839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4173199"/>
            <a:ext cx="12435840" cy="621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Hotspot baseline: Gaussian KDE over training centroids</a:t>
            </a:r>
            <a:br/>
            <a:r>
              <a:t>weighted by count. Tests if static spatial density alone</a:t>
            </a:r>
            <a:br/>
            <a:r>
              <a:t>can identify future risk.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ARIMA baseline: per-cell time-series for top 50 cells.</a:t>
            </a:r>
            <a:br/>
            <a:r>
              <a:t>Grid search (p,d,q) by AIC. Tests whether a cell's own</a:t>
            </a:r>
            <a:br/>
            <a:r>
              <a:t>history predicts its future activity.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Random Forest (main model): 300 trees, max depth 15,</a:t>
            </a:r>
            <a:br/>
            <a:r>
              <a:t>balanced weights, 14 features + encoded grid_id.</a:t>
            </a:r>
            <a:br/>
            <a:r>
              <a:t>Intuition: combining weather, calendar, recent history,</a:t>
            </a:r>
            <a:br/>
            <a:r>
              <a:t>and location should outperform single-signal baselines.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Temporal 80/20 split: train Jan-Oct 18, test Oct 19-Dec 30.</a:t>
            </a:r>
            <a:br/>
            <a:r>
              <a:t>No row shuffling to prevent future-data leakage.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Novelty: most prior systems offer forecasting or</a:t>
            </a:r>
            <a:br/>
            <a:r>
              <a:t>explanation, not both. Ours integrates prediction,</a:t>
            </a:r>
            <a:br/>
            <a:r>
              <a:t>SHAP explanation, and linked exploration in one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076919"/>
            <a:ext cx="13075920" cy="86868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isk_map_aggre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351239"/>
            <a:ext cx="7315200" cy="7716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28986479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Calibri"/>
              </a:defRPr>
            </a:pPr>
            <a:r>
              <a:t>Fig. 1: Aggregate RF risk across all test dates (Atlanta 1 km grid)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083760"/>
            <a:ext cx="13075920" cy="603504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0403800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0403800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0998160"/>
            <a:ext cx="12435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Leaflet map + D3 analytics. Metric selector, date slider</a:t>
            </a:r>
            <a:br/>
            <a:r>
              <a:t>with play/pause, linked histogram and time-series views.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Click any cell: feature snapshot, SHAP explanation panel</a:t>
            </a:r>
            <a:br/>
            <a:r>
              <a:t>with driver bar chart and narrative sentence.</a:t>
            </a:r>
          </a:p>
        </p:txBody>
      </p:sp>
      <p:pic>
        <p:nvPicPr>
          <p:cNvPr id="26" name="Picture 25" descr="app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3924240"/>
            <a:ext cx="11430000" cy="73478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4105656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Calibri"/>
              </a:defRPr>
            </a:pPr>
            <a:r>
              <a:t>Fig. 2: Dashboard with choropleth, time control, and explanation panel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898880" y="3474720"/>
            <a:ext cx="13075920" cy="47548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218920" y="3794759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420088" y="3794759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18920" y="4389120"/>
            <a:ext cx="12435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Evaluation: temporal hold-out (last 20% of dates).</a:t>
            </a:r>
            <a:br/>
            <a:r>
              <a:t>Metrics: Accuracy, Precision, Recall, F1, ROC-AUC, PR-AUC.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Test set: 26,572 cell-days, only 138 positive (0.52%).</a:t>
            </a:r>
            <a:br/>
            <a:r>
              <a:t>Extreme imbalance makes accuracy misleading (all &gt; 98%).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Model comparison: RF outranks both baselines.</a:t>
            </a:r>
            <a:br/>
            <a:r>
              <a:t>ROC-AUC: RF 0.65 &gt; ARIMA 0.59 &gt; Hotspot 0.53.</a:t>
            </a:r>
            <a:br/>
            <a:r>
              <a:t>PR-AUC:  RF 0.014 &gt; ARIMA 0.011 &gt; Hotspot 0.009.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RF threshold yields 0 true positives, but the continuous</a:t>
            </a:r>
            <a:br/>
            <a:r>
              <a:t>probability surface is more useful as a ranked risk map.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98880" y="8549640"/>
            <a:ext cx="13075920" cy="64008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etrics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0440" y="8823960"/>
            <a:ext cx="10972800" cy="6035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218920" y="1421892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Calibri"/>
              </a:defRPr>
            </a:pPr>
            <a:r>
              <a:t>Fig. 3: Model comparison across key evaluation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898880" y="15270480"/>
            <a:ext cx="13075920" cy="786384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roc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3440" y="15544800"/>
            <a:ext cx="8686800" cy="74458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218920" y="2249424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Calibri"/>
              </a:defRPr>
            </a:pPr>
            <a:r>
              <a:t>Fig. 4: ROC curves for all three baseline models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98880" y="23454360"/>
            <a:ext cx="13075920" cy="9144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218920" y="23774400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420088" y="23774400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INTERPRETABILITY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18920" y="24368760"/>
            <a:ext cx="12435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SHAP TreeExplainer on the RF model: per-feature</a:t>
            </a:r>
            <a:br/>
            <a:r>
              <a:t>contributions for every cell-date prediction.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Top drivers: rolling_sum_14, rolling_sum_7 (recent activity),</a:t>
            </a:r>
            <a:br/>
            <a:r>
              <a:t>then month, wind, and grid location.</a:t>
            </a:r>
          </a:p>
        </p:txBody>
      </p:sp>
      <p:pic>
        <p:nvPicPr>
          <p:cNvPr id="42" name="Picture 41" descr="shap_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2040" y="26471880"/>
            <a:ext cx="8229600" cy="72982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218920" y="3287268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Calibri"/>
              </a:defRPr>
            </a:pPr>
            <a:r>
              <a:t>Fig. 5: SHAP feature importance (mean |SHAP value|)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898880" y="32918400"/>
            <a:ext cx="13075920" cy="347472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218920" y="33238440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20088" y="33238440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18920" y="33832800"/>
            <a:ext cx="124358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2D2D2D"/>
                </a:solidFill>
                <a:latin typeface="Calibri"/>
              </a:defRPr>
            </a:pPr>
            <a:r>
              <a:t>•   Binary metrics are insufficient at 0.5% positive rate;</a:t>
            </a:r>
            <a:br/>
            <a:r>
              <a:t>ranked risk surfaces are more practical than alarms.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Linked views (map + timeline + histogram + explanation)</a:t>
            </a:r>
            <a:br/>
            <a:r>
              <a:t>make model outputs easier to understand and critique.</a:t>
            </a:r>
          </a:p>
          <a:p>
            <a:pPr>
              <a:lnSpc>
                <a:spcPts val="3000"/>
              </a:lnSpc>
              <a:spcBef>
                <a:spcPts val="1000"/>
              </a:spcBef>
              <a:defRPr sz="2200">
                <a:solidFill>
                  <a:srgbClr val="2D2D2D"/>
                </a:solidFill>
                <a:latin typeface="Calibri"/>
              </a:defRPr>
            </a:pPr>
            <a:r>
              <a:t>•   Future: census/land-use features, calibrated thresholds,</a:t>
            </a:r>
            <a:br/>
            <a:r>
              <a:t>gradient boosting, and a formal user study.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898880" y="36713160"/>
            <a:ext cx="13075920" cy="-59436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218920" y="37033200"/>
            <a:ext cx="109728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420088" y="37033200"/>
            <a:ext cx="12234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B71C1C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18920" y="37627560"/>
            <a:ext cx="12435840" cy="-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2D2D2D"/>
                </a:solidFill>
                <a:latin typeface="Calibri"/>
              </a:defRPr>
            </a:pPr>
            <a:r>
              <a:t>•   [1] Wang et al., CityGuard, IMWUT 2019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[2] Coffield et al., Fire size ML, IJWF 2019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[3] Lattimer et al., ML fire simulation, FSJ 2020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[4] Asgary et al., Toronto fire clustering, 2010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[5] Yuan &amp; Wylie, ARIMA vs RF, Austin 2024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[6] Madaio et al., Firebird Atlanta, 2016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[7] Jin et al., Deep sequence fire, ASC 2020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[8] Ahn et al., Stacking ensemble, Fire 2024</a:t>
            </a:r>
          </a:p>
          <a:p>
            <a:pPr>
              <a:lnSpc>
                <a:spcPts val="2400"/>
              </a:lnSpc>
              <a:spcBef>
                <a:spcPts val="1000"/>
              </a:spcBef>
              <a:defRPr sz="1600">
                <a:solidFill>
                  <a:srgbClr val="2D2D2D"/>
                </a:solidFill>
                <a:latin typeface="Calibri"/>
              </a:defRPr>
            </a:pPr>
            <a:r>
              <a:t>•   [9-15] Zhang, Ku, Cui, Liao, Kang, Xiao, Jennings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36411408"/>
            <a:ext cx="27432000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