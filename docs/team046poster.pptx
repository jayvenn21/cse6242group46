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7432000" cy="365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0" cy="310896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27432000" cy="182880"/>
          </a:xfrm>
          <a:prstGeom prst="rect">
            <a:avLst/>
          </a:prstGeom>
          <a:solidFill>
            <a:srgbClr val="8B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"/>
            <a:ext cx="25603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Ignition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2560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FFDDDD"/>
                </a:solidFill>
                <a:latin typeface="Calibri"/>
              </a:defRPr>
            </a:pPr>
            <a:r>
              <a:t>Explaining and Forecasting Urban Fire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560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Calibri"/>
              </a:defRPr>
            </a:pPr>
            <a:r>
              <a:t>Vishruth Anand   ·   Vineeth Nareddy   ·   Rian Rahman   ·   James Reilly   ·   Jayanth Vennamreddy</a:t>
            </a:r>
          </a:p>
          <a:p>
            <a:pPr algn="ctr">
              <a:defRPr sz="2000">
                <a:solidFill>
                  <a:srgbClr val="FFBBBB"/>
                </a:solidFill>
                <a:latin typeface="Calibri"/>
              </a:defRPr>
            </a:pPr>
            <a:r>
              <a:t>Georgia Institute of Technology  —  CSE 6242 Data and Visual Analytics  —  Team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13075920" cy="42062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79475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9475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89120"/>
            <a:ext cx="1243584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Fire departments make readiness decisions under uncertainty,</a:t>
            </a:r>
            <a:br/>
            <a:r>
              <a:t>yet incidents are not uniformly distributed across a city.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Current tools show what happened — not where risk is</a:t>
            </a:r>
            <a:br/>
            <a:r>
              <a:t>concentrated, how it changes, or why an area is flagged.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We built an end-to-end system that forecasts next-day fire</a:t>
            </a:r>
            <a:br/>
            <a:r>
              <a:t>risk on a 1 km Atlanta grid and explains each prediction.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8000999"/>
            <a:ext cx="13075920" cy="402336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832103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832103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8915399"/>
            <a:ext cx="12435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1,473 geocoded fire incidents from 2024 NFIRS PDR Light</a:t>
            </a:r>
            <a:br/>
            <a:r>
              <a:t>(Atlanta, fire codes 100–199, deduplicated).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Daily weather from Open-Meteo: temperature, humidity,</a:t>
            </a:r>
            <a:br/>
            <a:r>
              <a:t>precipitation, wind speed (citywide, one row per day).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1,176 grid cells at 1 km resolution; 132,860 cell-day rows</a:t>
            </a:r>
            <a:br/>
            <a:r>
              <a:t>with 18 features (weather, calendar, lags, rolling sums).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2344399"/>
            <a:ext cx="13075920" cy="658368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266443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266443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3258799"/>
            <a:ext cx="12435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Hotspot baseline: Gaussian KDE over training centroids</a:t>
            </a:r>
            <a:br/>
            <a:r>
              <a:t>weighted by count. Captures static spatial density only.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ARIMA baseline: per-cell time-series for top 50 cells.</a:t>
            </a:r>
            <a:br/>
            <a:r>
              <a:t>Grid search (p,d,q) by AIC; fallback for sparse cells.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Random Forest (main model): 300 trees, max depth 15,</a:t>
            </a:r>
            <a:br/>
            <a:r>
              <a:t>balanced weights. Uses all 14 features + encoded grid_id.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Temporal 80/20 split: train Jan–Oct 18, test Oct 19–Dec 30.</a:t>
            </a:r>
            <a:br/>
            <a:r>
              <a:t>No row shuffling to prevent future-data leakage.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248120"/>
            <a:ext cx="13075920" cy="86868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isk_map_aggre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522440"/>
            <a:ext cx="7315200" cy="77163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2715768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1: Aggregate RF risk across all test dates (Atlanta 1 km grid)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254960"/>
            <a:ext cx="13075920" cy="7863839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2857500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2857500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9169360"/>
            <a:ext cx="12435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Leaflet map + D3 analytics. Metric selector, date slider</a:t>
            </a:r>
            <a:br/>
            <a:r>
              <a:t>with play/pause, linked histogram and time-series views.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Click any cell: feature snapshot, SHAP explanation panel</a:t>
            </a:r>
            <a:br/>
            <a:r>
              <a:t>with driver bar chart and narrative sentence.</a:t>
            </a:r>
          </a:p>
        </p:txBody>
      </p:sp>
      <p:pic>
        <p:nvPicPr>
          <p:cNvPr id="26" name="Picture 25" descr="app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2095440"/>
            <a:ext cx="11430000" cy="734785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3922776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2: Dashboard with choropleth, time control, and explanation panel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898880" y="3474720"/>
            <a:ext cx="13075920" cy="42062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218920" y="379475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20088" y="379475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18920" y="4389120"/>
            <a:ext cx="12435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Test set: 26,572 cell-days, only 138 positive (0.52%).</a:t>
            </a:r>
            <a:br/>
            <a:r>
              <a:t>Extreme imbalance makes accuracy misleading (all &gt; 98%).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RF achieves the best ranking: ROC-AUC 0.65, PR-AUC 0.014</a:t>
            </a:r>
            <a:br/>
            <a:r>
              <a:t>(≈3× better than random at this positive rate).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RF threshold gives 0 true positives, but the continuous</a:t>
            </a:r>
            <a:br/>
            <a:r>
              <a:t>probability surface is more useful as a risk map.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98880" y="8000999"/>
            <a:ext cx="13075920" cy="64008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trics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50440" y="8275319"/>
            <a:ext cx="10972800" cy="60350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18920" y="1367028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3: Model comparison across key evaluation metrics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898880" y="14721839"/>
            <a:ext cx="13075920" cy="78638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93440" y="14996159"/>
            <a:ext cx="8686800" cy="744582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218920" y="2194560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4: ROC curves for all three baseline models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898880" y="22905719"/>
            <a:ext cx="13075920" cy="91440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218920" y="2322576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420088" y="2322576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INTERPRETABILITY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218920" y="23820119"/>
            <a:ext cx="12435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SHAP TreeExplainer on the RF model: per-feature</a:t>
            </a:r>
            <a:br/>
            <a:r>
              <a:t>contributions for every cell-date prediction.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Top drivers: rolling_sum_14, rolling_sum_7 (recent activity),</a:t>
            </a:r>
            <a:br/>
            <a:r>
              <a:t>then month, wind, and grid location.</a:t>
            </a:r>
          </a:p>
        </p:txBody>
      </p:sp>
      <p:pic>
        <p:nvPicPr>
          <p:cNvPr id="42" name="Picture 41" descr="shap_b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2040" y="25923239"/>
            <a:ext cx="8229600" cy="729820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218920" y="32324039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5: SHAP feature importance (mean |SHAP value|)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898880" y="32369760"/>
            <a:ext cx="13075920" cy="347472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218920" y="3268980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20088" y="3268980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18920" y="33284160"/>
            <a:ext cx="1243584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Binary metrics are insufficient at 0.5% positive rate —</a:t>
            </a:r>
            <a:br/>
            <a:r>
              <a:t>ranked risk surfaces are more practical than alarms.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Linked views (map + timeline + histogram + explanation)</a:t>
            </a:r>
            <a:br/>
            <a:r>
              <a:t>make model outputs easier to understand and critique.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Future: census/land-use features, calibrated thresholds,</a:t>
            </a:r>
            <a:br/>
            <a:r>
              <a:t>gradient boosting, and a formal user study.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98880" y="36164520"/>
            <a:ext cx="13075920" cy="-45719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218920" y="3648456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420088" y="3648456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18920" y="37078920"/>
            <a:ext cx="12435840" cy="-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2D2D2D"/>
                </a:solidFill>
                <a:latin typeface="Calibri"/>
              </a:defRPr>
            </a:pPr>
            <a:r>
              <a:t>•   [1] Wang et al., CityGuard, IMWUT 2019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[2] Coffield et al., Fire size ML, IJWF 2019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[3] Lattimer et al., ML fire simulation, FSJ 2020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[4] Asgary et al., Toronto fire clustering, 2010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[5] Yuan &amp; Wylie, ARIMA vs RF, Austin 2024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[6] Madaio et al., Firebird Atlanta, 2016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[7] Jin et al., Deep sequence fire, ASC 2020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[8] Ahn et al., Stacking ensemble, Fire 2024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[9–15] Zhang, Ku, Cui, Liao, Kang, Xiao, Jennings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36411408"/>
            <a:ext cx="27432000" cy="164592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